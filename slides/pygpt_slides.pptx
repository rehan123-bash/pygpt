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0F4C81"/>
                </a:solidFill>
              </a:defRPr>
            </a:pPr>
            <a:r>
              <a:t>PyGPT</a:t>
            </a:r>
          </a:p>
          <a:p>
            <a:pPr algn="ctr">
              <a:defRPr sz="2800">
                <a:solidFill>
                  <a:srgbClr val="1A1A2E"/>
                </a:solidFill>
              </a:defRPr>
            </a:pPr>
            <a:r>
              <a:t>A Python code-completion assistant, trained from scratch</a:t>
            </a:r>
          </a:p>
          <a:p>
            <a:pPr algn="ctr">
              <a:defRPr sz="1600">
                <a:solidFill>
                  <a:srgbClr val="555555"/>
                </a:solidFill>
              </a:defRPr>
            </a:pPr>
            <a:r>
              <a:t>Every stage built and measured by hand: data → tokenizer → model → training → evaluation → deployment</a:t>
            </a:r>
          </a:p>
          <a:p>
            <a:pPr algn="ctr">
              <a:defRPr sz="1400">
                <a:solidFill>
                  <a:srgbClr val="555555"/>
                </a:solidFill>
              </a:defRPr>
            </a:pPr>
          </a:p>
          <a:p>
            <a:pPr algn="ctr">
              <a:defRPr sz="1800">
                <a:solidFill>
                  <a:srgbClr val="1A1A2E"/>
                </a:solidFill>
              </a:defRPr>
            </a:pPr>
            <a:r>
              <a:t>Rehan  ·  Machine Learning  ·  Bennett University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The problem and the end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Task: given the start of a Python function, predict what comes next — next-token prediction is code completion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Goal: a working assistant powered by a model we trained ourselves — not an API call, not a fine-tune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“Working” means three things:</a:t>
            </a:r>
          </a:p>
          <a:p>
            <a:pPr lvl="1">
              <a:spcAft>
                <a:spcPts val="1000"/>
              </a:spcAft>
              <a:defRPr sz="1600">
                <a:solidFill>
                  <a:srgbClr val="555555"/>
                </a:solidFill>
              </a:defRPr>
            </a:pPr>
            <a:r>
              <a:t>–  a live demo that completes code in seconds</a:t>
            </a:r>
          </a:p>
          <a:p>
            <a:pPr lvl="1">
              <a:spcAft>
                <a:spcPts val="1000"/>
              </a:spcAft>
              <a:defRPr sz="1600">
                <a:solidFill>
                  <a:srgbClr val="555555"/>
                </a:solidFill>
              </a:defRPr>
            </a:pPr>
            <a:r>
              <a:t>–  measured results against baselines (perplexity, syntactic validity, functional tests)</a:t>
            </a:r>
          </a:p>
          <a:p>
            <a:pPr lvl="1">
              <a:spcAft>
                <a:spcPts val="1000"/>
              </a:spcAft>
              <a:defRPr sz="1600">
                <a:solidFill>
                  <a:srgbClr val="555555"/>
                </a:solidFill>
              </a:defRPr>
            </a:pPr>
            <a:r>
              <a:t>–  a public repo whose structure matches the design in this deck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Constraints: 3 days, free compute only (Kaggle 2× T4, 30 GPU-h/week), solo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Existing systems — and the gap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Criterion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Params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Open?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Relevance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GPT-2 (Radford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124M–1.5B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Architecture we reuse; English-only → our baseline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Codex / Copilot (Chen et al.)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Defined the task and pass@k evaluation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CodeParrot (HF)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110M / 1.5B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Closest prior work: same data family, 50–100× our compute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SantaCoder / StarCoder (BigCode)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2022–23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1.1B / 15.5B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License-filtered data pipeline we follow in spirit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 Llama (Meta)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7B–70B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Open state of the art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PyGPT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Complete, reproducible, measured pipeline at student scale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1206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0F4C81"/>
                </a:solidFill>
              </a:defRPr>
            </a:pPr>
            <a:r>
              <a:t>Gap: everything above is closed-source or needs 100–10,000× a student's compute. None of it teaches how a code LM is built. PyGPT's contribution is honest numbers on what ~7 GPU-hours buys — with every stage visible.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Feasibility: do the math before burning GPU hours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Scaling-law estimate: FLOPs ≈ 6·N·D = 6 × 1.1e8 × 8e8 ≈ 5.3e17 → ~6 h on 2× T4 at 20–30% utilization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Measured on the day: 34,000 tok/s (fp16, DDP) → 799.5M tokens in 6 h 45 min — one full epoch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Chinchilla-optimal for 110M params ≈ 2.2B tokens → we are ~3× under-trained by design (limitations slide)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The free-tier landscape is a moving target — verify, don't assume:</a:t>
            </a:r>
          </a:p>
          <a:p>
            <a:pPr lvl="1">
              <a:spcAft>
                <a:spcPts val="1000"/>
              </a:spcAft>
              <a:defRPr sz="1600">
                <a:solidFill>
                  <a:srgbClr val="555555"/>
                </a:solidFill>
              </a:defRPr>
            </a:pPr>
            <a:r>
              <a:t>–  AWS: GPU quota denied twice (new account) → dead end</a:t>
            </a:r>
          </a:p>
          <a:p>
            <a:pPr lvl="1">
              <a:spcAft>
                <a:spcPts val="1000"/>
              </a:spcAft>
              <a:defRPr sz="1600">
                <a:solidFill>
                  <a:srgbClr val="555555"/>
                </a:solidFill>
              </a:defRPr>
            </a:pPr>
            <a:r>
              <a:t>–  Hugging Face: free Gradio Spaces discontinued mid-project (402) → laptop demo instead</a:t>
            </a:r>
          </a:p>
          <a:p>
            <a:pPr lvl="1">
              <a:spcAft>
                <a:spcPts val="1000"/>
              </a:spcAft>
              <a:defRPr sz="1600">
                <a:solidFill>
                  <a:srgbClr val="555555"/>
                </a:solidFill>
              </a:defRPr>
            </a:pPr>
            <a:r>
              <a:t>–  Kaggle: 30 GPU-h/week free — total project spend 7.3 h, leaving 22.7 h reserve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Session-death insurance: checkpoint every 250 steps + tested kill-and-resume before the long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Objectives — all measurable, all measured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Criterion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Achieved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GPT-2-class model from scratch in PyTorch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init loss ≈ ln(32768)=10.4; causal-mask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10.42 ✓ · mask test ✓ · 110.5M params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Clean Python pretraining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≥800M train tokens + held-out 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800M + 5M (codeparrot-clean)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Useful loss on free GPUs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 loss &lt; 1.8 in ≤ 10 GPU-h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1.685 in 6.75 h ✓ (ppl 5.24)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Quantitative eval vs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ppl, AST-validity, pass@k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59% AST-valid vs GPT-2 10% ✓ · pass@10 = 0 (honest)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Deployed completion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30-token prompt answered &lt; 15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2.4 s for 96 tokens on laptop CPU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Design ↔ implementation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map table + public 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slide 11 + github.com/Rehan123-bash/pygpt 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(stretch) VS Code extension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60-s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future work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Methodology: the pipeline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Criterion 2 — every box is a file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HF Hub: codeparrot-clean (streamed, never fully downloaded)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│  filters: size, line length, %alpha, auto-generated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▼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data/prepare_data.py ── BPE tokenize (32k code vocab) ── &lt;|endoftext|&gt; joins files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▼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train.bin / val.bin  (uint16 memmap — vocab 32,768 fits exactly)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▼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train.py   AdamW · warmup+cosine · fp16+GradScaler · grad-accum · DDP on 2× T4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│        checkpoints every 250 steps · resume · CSV log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▼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ckpt_best.pt ──► eval.py   val ppl · AST-validity · pass@k · baselines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▼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export.py  fp16 weights-only (212 MB) ──► app/app.py  (Gradio, runs on a laptop CPU)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Architecture: GPT-2 Small, written from scratch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Criteria 3+4 — file and class names on every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tokens ──► wte (32768×768) + wpe (512×768)          model.py: GPT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  ▼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12 × Block:   x = x + CausalSelfAttention(LN(x))  model.py: Block, CausalSelfAttention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     x = x + MLP(LN(x))                  model.py: MLP   (768 → 3072 → 768, GELU)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           ▼</a:t>
            </a:r>
          </a:p>
          <a:p>
            <a:pPr>
              <a:defRPr sz="1400">
                <a:solidFill>
                  <a:srgbClr val="1A1A2E"/>
                </a:solidFill>
                <a:latin typeface="Consolas"/>
              </a:defRPr>
            </a:pPr>
            <a:r>
              <a:t>   LayerNorm ──► lm_head (tied to wte)               weight tying: −25M params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Parameters: embeddings 25.6M + 12 blocks × 7.1M ≈ 110.5M  (“124M-class”: GPT-2's 50k English vocab vs our 32k code vocab)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Why each choice: pre-LN → stable at 12 layers · SDPA kernel → memory-efficient attention on T4 · ctx 512 → 1.4× faster, functions fit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Generation: temperature / top-k / nucleus sampling + per-layer KV cache (each step feeds 1 token, not the whole sequence)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Data, tokenizer, training recipe — each row has a why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Criterion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Why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codeparrot-clean, 800M tokens streamed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pre-deduplicated Python; streaming avoids a 50 GB download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Tokenizer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codeparrot BPE, vocab 32,768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code-trained: indentation + identifiers are single tokens (~35% fewer than GPT-2's)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AdamW β=(0.9, 0.95), wd 0.1 on matrices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decoupled decay regularizes without fighting Adam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LR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warmup 200 → 6e-4 → cosine → 6e-5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warmup avoids early divergence; low final LR sharpens the minimum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fp16 autocast + GradScaler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2–3× throughput on T4 tensor cores; scaler prevents underflow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× 512 × 2 GPUs × grad-accum 8 = 131k tok/step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large effective batch within 16 GB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Multi-GPU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DistributedDataParallel (torchrun)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near-linear scaling on the 2 free T4s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grad clip 1.0 · ckpt/250 steps · tested resume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fp16 spikes; Kaggle 12 h session cap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Results — against real baselines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Criteria 2+3 · all numbers in results/metrics.json</a:t>
            </a:r>
          </a:p>
        </p:txBody>
      </p:sp>
      <p:pic>
        <p:nvPicPr>
          <p:cNvPr id="3" name="Picture 2" descr="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852160" cy="333271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4630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Random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GPT-2 124M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PyGPT (ours)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Val perplexity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38,487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n/a (different vocab)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5.24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AST-valid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59%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pass@1 (5 tasks)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pass@10 (5 tasks)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3749039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Loss 10.4 → 1.685 over one epoch (6.75 h).</a:t>
            </a:r>
          </a:p>
          <a:p>
            <a:pPr>
              <a:spcAft>
                <a:spcPts val="800"/>
              </a:spcAft>
              <a:defRPr sz="1400">
                <a:solidFill>
                  <a:srgbClr val="555555"/>
                </a:solidFill>
              </a:defRPr>
            </a:pPr>
            <a:r>
              <a:t>59% of completions parse as Python — 6× vanilla GPT-2. But 0/5 toy tasks pass hidden tests: 7 GPU-hours buys plausible, not correct. CodeParrot used 50–100× more compute.</a:t>
            </a:r>
          </a:p>
          <a:p>
            <a:pPr>
              <a:spcAft>
                <a:spcPts val="800"/>
              </a:spcAft>
              <a:defRPr sz="1300">
                <a:solidFill>
                  <a:srgbClr val="555555"/>
                </a:solidFill>
              </a:defRPr>
            </a:pPr>
            <a:r>
              <a:t>Best sample: read_json → idiomatic `with open(path) as f: return json.load(f)` — one missing import from passing.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Live demo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python app/app.py — runs offline on this laptop, ~2.4 s per completion (KV cache)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Prompt A: def fibonacci(n) + docstring — read what it does, not what we hope it does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Prompt B: NumPy normalize() — has it learned library idioms?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Prompt C: class Stack with __init__ — multi-method structure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Same prompt at temperature 0.2 vs 0.9 — sampling in one sentence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Prompt F: solve_sudoku() — the honest failure case</a:t>
            </a:r>
          </a:p>
          <a:p>
            <a:pPr lvl="1">
              <a:spcAft>
                <a:spcPts val="1000"/>
              </a:spcAft>
              <a:defRPr sz="1600">
                <a:solidFill>
                  <a:srgbClr val="555555"/>
                </a:solidFill>
              </a:defRPr>
            </a:pPr>
            <a:r>
              <a:t>–  backups, in order: Kaggle public share link · recorded video · screenshots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Design ↔ implementation: nothing on these slides is vaporware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Criterion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Design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File · 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Verified by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filtering + tokenization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data/prepare_data.py · keep_file, tokenize_stream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token counts re-counted from disk; decoded sample inspected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Causal self-attention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model.py · CausalSelfAttention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test: changing token t+1 never changes logits ≤ 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model +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model.py · 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init loss 10.42 ≈ ln(V); overfits one batch to &lt; 0.1; 110.5M params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Training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train.py · get_lr, estimate_loss, save_ckpt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smoke run · kill + --resume continues · DDP on 2 GPUs · time-limit exit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Sampling + KV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model.py · generate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cached output bit-identical to uncached (sanity check 5)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eval.py · val_loss, ast_validity, functional_test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results/metrics.json — the numbers on slide 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Export +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export.py, app/app.py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fp16 round-trip greedy-identical; this demo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F4C81"/>
                </a:solidFill>
              </a:defRPr>
            </a:pPr>
            <a:r>
              <a:t>Public repo: github.com/Rehan123-bash/pygpt  —  6 sanity checks gate every training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Limitations and future work</a:t>
            </a:r>
          </a:p>
          <a:p>
            <a:pPr>
              <a:defRPr sz="1400">
                <a:solidFill>
                  <a:srgbClr val="555555"/>
                </a:solidFill>
              </a:defRPr>
            </a:pPr>
            <a:r>
              <a:t>Criterion 1 — knowing the boundary is part of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Under-trained ~3× vs Chinchilla-optimal (0.8B of ~2.2B tokens) — loss was still falling when we stopped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Completion ≠ correctness: pass@10 = 0 on toy tasks; it autocompletes plausibly, it does not reason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512-token context — function-level, not file-level, completion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No instruction tuning: “write a function that…” prompts will not work</a:t>
            </a:r>
          </a:p>
          <a:p>
            <a:pPr>
              <a:spcAft>
                <a:spcPts val="1000"/>
              </a:spcAft>
              <a:defRPr sz="1800">
                <a:solidFill>
                  <a:srgbClr val="1A1A2E"/>
                </a:solidFill>
              </a:defRPr>
            </a:pPr>
            <a:r>
              <a:t>•  Future work:</a:t>
            </a:r>
          </a:p>
          <a:p>
            <a:pPr lvl="1">
              <a:spcAft>
                <a:spcPts val="1000"/>
              </a:spcAft>
              <a:defRPr sz="1600">
                <a:solidFill>
                  <a:srgbClr val="555555"/>
                </a:solidFill>
              </a:defRPr>
            </a:pPr>
            <a:r>
              <a:t>–  longer training — 22 unused free GPU-hours per week were left on the table</a:t>
            </a:r>
          </a:p>
          <a:p>
            <a:pPr lvl="1">
              <a:spcAft>
                <a:spcPts val="1000"/>
              </a:spcAft>
              <a:defRPr sz="1600">
                <a:solidFill>
                  <a:srgbClr val="555555"/>
                </a:solidFill>
              </a:defRPr>
            </a:pPr>
            <a:r>
              <a:t>–  train our own tokenizer · fill-in-the-middle objective · VS Code inline-completion extension (backend already exists)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Vaswani et al. 2017 — Attention Is All You Need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Radford et al. 2019 — Language Models are Unsupervised Multitask Learners (GPT-2)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Chen et al. 2021 — Evaluating LLMs Trained on Code (Codex, HumanEval, pass@k)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Tunstall, von Werra, Wolf 2022 — NLP with Transformers, ch. 10 (CodeParrot)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Kocetkov et al. 2022 — The Stack · Li et al. 2023 — StarCoder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Rozière et al. 2023 — Code Llama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Kaplan et al. 2020 — Scaling Laws · Hoffmann et al. 2022 — Chinchilla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Sennrich et al. 2016 — BPE · Press &amp; Wolf 2017 — Weight Tying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Loshchilov &amp; Hutter 2019 — AdamW · Micikevicius et al. 2018 — Mixed Precision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Holtzman et al. 2020 — The Curious Case of Neural Text Degeneration (nucleus sampling)</a:t>
            </a:r>
          </a:p>
          <a:p>
            <a:pPr>
              <a:spcAft>
                <a:spcPts val="1000"/>
              </a:spcAft>
              <a:defRPr sz="1500">
                <a:solidFill>
                  <a:srgbClr val="1A1A2E"/>
                </a:solidFill>
              </a:defRPr>
            </a:pPr>
            <a:r>
              <a:t>•  Karpathy — nanoGPT (reference implementation pattern)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